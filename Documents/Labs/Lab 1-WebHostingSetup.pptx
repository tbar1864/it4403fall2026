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345" r:id="rId2"/>
    <p:sldId id="346" r:id="rId3"/>
    <p:sldId id="348" r:id="rId4"/>
    <p:sldId id="349" r:id="rId5"/>
    <p:sldId id="350" r:id="rId6"/>
    <p:sldId id="351" r:id="rId7"/>
    <p:sldId id="352" r:id="rId8"/>
    <p:sldId id="353" r:id="rId9"/>
    <p:sldId id="354" r:id="rId10"/>
    <p:sldId id="355" r:id="rId11"/>
    <p:sldId id="356" r:id="rId12"/>
    <p:sldId id="357" r:id="rId13"/>
    <p:sldId id="358" r:id="rId14"/>
    <p:sldId id="359" r:id="rId15"/>
    <p:sldId id="34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64"/>
    <p:restoredTop sz="69160"/>
  </p:normalViewPr>
  <p:slideViewPr>
    <p:cSldViewPr snapToGrid="0">
      <p:cViewPr varScale="1">
        <p:scale>
          <a:sx n="51" d="100"/>
          <a:sy n="51" d="100"/>
        </p:scale>
        <p:origin x="103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Barrera" userId="dbe9acf4-5638-4f05-a21c-79847ef06d84" providerId="ADAL" clId="{4574A94C-A959-41D0-895A-F3A1D262550A}"/>
    <pc:docChg chg="modSld">
      <pc:chgData name="Tom Barrera" userId="dbe9acf4-5638-4f05-a21c-79847ef06d84" providerId="ADAL" clId="{4574A94C-A959-41D0-895A-F3A1D262550A}" dt="2026-09-11T19:11:39.738" v="0" actId="1076"/>
      <pc:docMkLst>
        <pc:docMk/>
      </pc:docMkLst>
      <pc:sldChg chg="modSp mod">
        <pc:chgData name="Tom Barrera" userId="dbe9acf4-5638-4f05-a21c-79847ef06d84" providerId="ADAL" clId="{4574A94C-A959-41D0-895A-F3A1D262550A}" dt="2026-09-11T19:11:39.738" v="0" actId="1076"/>
        <pc:sldMkLst>
          <pc:docMk/>
          <pc:sldMk cId="2327351100" sldId="356"/>
        </pc:sldMkLst>
        <pc:spChg chg="mod">
          <ac:chgData name="Tom Barrera" userId="dbe9acf4-5638-4f05-a21c-79847ef06d84" providerId="ADAL" clId="{4574A94C-A959-41D0-895A-F3A1D262550A}" dt="2026-09-11T19:11:39.738" v="0" actId="1076"/>
          <ac:spMkLst>
            <pc:docMk/>
            <pc:sldMk cId="2327351100" sldId="356"/>
            <ac:spMk id="3" creationId="{44F58FAB-2538-C175-F42E-F38003D0D76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34A0D36-D9E4-E943-8D3F-D74CAF1FA28F}"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489653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4A0D36-D9E4-E943-8D3F-D74CAF1FA28F}"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2700573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A0D36-D9E4-E943-8D3F-D74CAF1FA28F}"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128071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4A0D36-D9E4-E943-8D3F-D74CAF1FA28F}"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1596140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4A0D36-D9E4-E943-8D3F-D74CAF1FA28F}"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1120853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4A0D36-D9E4-E943-8D3F-D74CAF1FA28F}"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4036562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A0D36-D9E4-E943-8D3F-D74CAF1FA28F}"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1732851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A0D36-D9E4-E943-8D3F-D74CAF1FA28F}"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1711146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4A0D36-D9E4-E943-8D3F-D74CAF1FA28F}"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2011202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4A0D36-D9E4-E943-8D3F-D74CAF1FA28F}"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3915238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4A0D36-D9E4-E943-8D3F-D74CAF1FA28F}"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320815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4A0D36-D9E4-E943-8D3F-D74CAF1FA28F}"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F0AC56-E01A-F74D-9010-B0A5DC26A503}" type="slidenum">
              <a:rPr lang="en-US" smtClean="0"/>
              <a:t>‹#›</a:t>
            </a:fld>
            <a:endParaRPr lang="en-US"/>
          </a:p>
        </p:txBody>
      </p:sp>
    </p:spTree>
    <p:extLst>
      <p:ext uri="{BB962C8B-B14F-4D97-AF65-F5344CB8AC3E}">
        <p14:creationId xmlns:p14="http://schemas.microsoft.com/office/powerpoint/2010/main" val="14915330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581749"/>
            <a:ext cx="2743200" cy="190447"/>
          </a:xfrm>
          <a:prstGeom prst="rect">
            <a:avLst/>
          </a:prstGeom>
        </p:spPr>
        <p:txBody>
          <a:bodyPr vert="horz" lIns="91440" tIns="45720" rIns="91440" bIns="45720" rtlCol="0" anchor="ctr"/>
          <a:lstStyle>
            <a:lvl1pPr algn="l">
              <a:defRPr sz="1067">
                <a:solidFill>
                  <a:schemeClr val="tx1">
                    <a:tint val="75000"/>
                  </a:schemeClr>
                </a:solidFill>
              </a:defRPr>
            </a:lvl1pPr>
          </a:lstStyle>
          <a:p>
            <a:fld id="{F34A0D36-D9E4-E943-8D3F-D74CAF1FA28F}" type="datetimeFigureOut">
              <a:rPr lang="en-US" smtClean="0"/>
              <a:pPr/>
              <a:t>9/11/2026</a:t>
            </a:fld>
            <a:endParaRPr lang="en-US"/>
          </a:p>
        </p:txBody>
      </p:sp>
      <p:sp>
        <p:nvSpPr>
          <p:cNvPr id="5" name="Footer Placeholder 4"/>
          <p:cNvSpPr>
            <a:spLocks noGrp="1"/>
          </p:cNvSpPr>
          <p:nvPr>
            <p:ph type="ftr" sz="quarter" idx="3"/>
          </p:nvPr>
        </p:nvSpPr>
        <p:spPr>
          <a:xfrm>
            <a:off x="4038600" y="6581749"/>
            <a:ext cx="4114800" cy="190447"/>
          </a:xfrm>
          <a:prstGeom prst="rect">
            <a:avLst/>
          </a:prstGeom>
        </p:spPr>
        <p:txBody>
          <a:bodyPr vert="horz" lIns="91440" tIns="45720" rIns="91440" bIns="45720" rtlCol="0" anchor="ctr"/>
          <a:lstStyle>
            <a:lvl1pPr algn="ctr">
              <a:defRPr sz="106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581749"/>
            <a:ext cx="2743200" cy="190447"/>
          </a:xfrm>
          <a:prstGeom prst="rect">
            <a:avLst/>
          </a:prstGeom>
        </p:spPr>
        <p:txBody>
          <a:bodyPr vert="horz" lIns="91440" tIns="45720" rIns="91440" bIns="45720" rtlCol="0" anchor="ctr"/>
          <a:lstStyle>
            <a:lvl1pPr algn="r">
              <a:defRPr sz="1067">
                <a:solidFill>
                  <a:schemeClr val="tx1">
                    <a:tint val="75000"/>
                  </a:schemeClr>
                </a:solidFill>
              </a:defRPr>
            </a:lvl1pPr>
          </a:lstStyle>
          <a:p>
            <a:fld id="{9BF0AC56-E01A-F74D-9010-B0A5DC26A503}" type="slidenum">
              <a:rPr lang="en-US" smtClean="0"/>
              <a:pPr/>
              <a:t>‹#›</a:t>
            </a:fld>
            <a:endParaRPr lang="en-US"/>
          </a:p>
        </p:txBody>
      </p:sp>
    </p:spTree>
    <p:extLst>
      <p:ext uri="{BB962C8B-B14F-4D97-AF65-F5344CB8AC3E}">
        <p14:creationId xmlns:p14="http://schemas.microsoft.com/office/powerpoint/2010/main" val="3672936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pages.github.com/" TargetMode="External"/><Relationship Id="rId2" Type="http://schemas.openxmlformats.org/officeDocument/2006/relationships/hyperlink" Target="https://azureforeducation.microsoft.com/devtools" TargetMode="External"/><Relationship Id="rId1" Type="http://schemas.openxmlformats.org/officeDocument/2006/relationships/slideLayout" Target="../slideLayouts/slideLayout2.xml"/><Relationship Id="rId5" Type="http://schemas.openxmlformats.org/officeDocument/2006/relationships/hyperlink" Target="https://www.freehosting.com/" TargetMode="External"/><Relationship Id="rId4" Type="http://schemas.openxmlformats.org/officeDocument/2006/relationships/hyperlink" Target="http://www.whoishostingthis.com/hosting-review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ccse.kennesaw.edu/it/"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4CA4-E46E-46A0-1E2F-C28A36BD6450}"/>
              </a:ext>
            </a:extLst>
          </p:cNvPr>
          <p:cNvSpPr>
            <a:spLocks noGrp="1"/>
          </p:cNvSpPr>
          <p:nvPr>
            <p:ph type="ctrTitle"/>
          </p:nvPr>
        </p:nvSpPr>
        <p:spPr/>
        <p:txBody>
          <a:bodyPr>
            <a:normAutofit/>
          </a:bodyPr>
          <a:lstStyle/>
          <a:p>
            <a:r>
              <a:rPr lang="en-US" b="1" dirty="0"/>
              <a:t>Lab 1: </a:t>
            </a:r>
            <a:br>
              <a:rPr lang="en-US" b="1" dirty="0"/>
            </a:br>
            <a:r>
              <a:rPr lang="en-US" b="1" dirty="0"/>
              <a:t>Web Hosting Setup</a:t>
            </a:r>
          </a:p>
        </p:txBody>
      </p:sp>
      <p:sp>
        <p:nvSpPr>
          <p:cNvPr id="3" name="Subtitle 2">
            <a:extLst>
              <a:ext uri="{FF2B5EF4-FFF2-40B4-BE49-F238E27FC236}">
                <a16:creationId xmlns:a16="http://schemas.microsoft.com/office/drawing/2014/main" id="{BC1CD9E0-EF49-7233-B1C3-9C10C48A439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44741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B1C1C-DB13-6A4C-6D58-BC193B2A4814}"/>
              </a:ext>
            </a:extLst>
          </p:cNvPr>
          <p:cNvSpPr>
            <a:spLocks noGrp="1"/>
          </p:cNvSpPr>
          <p:nvPr>
            <p:ph type="title"/>
          </p:nvPr>
        </p:nvSpPr>
        <p:spPr>
          <a:xfrm>
            <a:off x="721825" y="353089"/>
            <a:ext cx="10515600" cy="1325563"/>
          </a:xfrm>
        </p:spPr>
        <p:txBody>
          <a:bodyPr/>
          <a:lstStyle/>
          <a:p>
            <a:r>
              <a:rPr lang="en-US" b="1" dirty="0"/>
              <a:t>Lab 1: Web Hosting Setup</a:t>
            </a:r>
            <a:endParaRPr lang="en-US" dirty="0"/>
          </a:p>
        </p:txBody>
      </p:sp>
      <p:sp>
        <p:nvSpPr>
          <p:cNvPr id="3" name="Content Placeholder 2">
            <a:extLst>
              <a:ext uri="{FF2B5EF4-FFF2-40B4-BE49-F238E27FC236}">
                <a16:creationId xmlns:a16="http://schemas.microsoft.com/office/drawing/2014/main" id="{70AFC6C7-2AE6-5440-CA52-65FDD66D7590}"/>
              </a:ext>
            </a:extLst>
          </p:cNvPr>
          <p:cNvSpPr>
            <a:spLocks noGrp="1"/>
          </p:cNvSpPr>
          <p:nvPr>
            <p:ph idx="1"/>
          </p:nvPr>
        </p:nvSpPr>
        <p:spPr>
          <a:xfrm>
            <a:off x="605450" y="1530964"/>
            <a:ext cx="10848100" cy="4351339"/>
          </a:xfrm>
        </p:spPr>
        <p:txBody>
          <a:bodyPr>
            <a:normAutofit fontScale="92500" lnSpcReduction="10000"/>
          </a:bodyPr>
          <a:lstStyle/>
          <a:p>
            <a:pPr>
              <a:lnSpc>
                <a:spcPct val="150000"/>
              </a:lnSpc>
            </a:pPr>
            <a:r>
              <a:rPr lang="en-US" dirty="0"/>
              <a:t>This lab will guide you through setting up your own web hosting environment. You will use this hosting space to publish all exercises, labs and projects for this course. This is an important foundational step for your work in IT 4403.</a:t>
            </a:r>
          </a:p>
          <a:p>
            <a:pPr>
              <a:lnSpc>
                <a:spcPct val="150000"/>
              </a:lnSpc>
            </a:pPr>
            <a:r>
              <a:rPr lang="en-US" dirty="0"/>
              <a:t>Your website must remain publicly accessible through a working URL during the course.</a:t>
            </a:r>
          </a:p>
          <a:p>
            <a:pPr>
              <a:lnSpc>
                <a:spcPct val="150000"/>
              </a:lnSpc>
            </a:pPr>
            <a:r>
              <a:rPr lang="en-US" dirty="0"/>
              <a:t>Please complete this lab within the first two weeks of the semester.</a:t>
            </a:r>
          </a:p>
        </p:txBody>
      </p:sp>
    </p:spTree>
    <p:extLst>
      <p:ext uri="{BB962C8B-B14F-4D97-AF65-F5344CB8AC3E}">
        <p14:creationId xmlns:p14="http://schemas.microsoft.com/office/powerpoint/2010/main" val="1453227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57CCB-C3E4-B6BA-A146-134D3898D16D}"/>
              </a:ext>
            </a:extLst>
          </p:cNvPr>
          <p:cNvSpPr>
            <a:spLocks noGrp="1"/>
          </p:cNvSpPr>
          <p:nvPr>
            <p:ph type="title"/>
          </p:nvPr>
        </p:nvSpPr>
        <p:spPr/>
        <p:txBody>
          <a:bodyPr/>
          <a:lstStyle/>
          <a:p>
            <a:r>
              <a:rPr lang="en-US" b="1" dirty="0"/>
              <a:t>Purpose of This Lab</a:t>
            </a:r>
            <a:endParaRPr lang="en-US" dirty="0"/>
          </a:p>
        </p:txBody>
      </p:sp>
      <p:sp>
        <p:nvSpPr>
          <p:cNvPr id="3" name="Content Placeholder 2">
            <a:extLst>
              <a:ext uri="{FF2B5EF4-FFF2-40B4-BE49-F238E27FC236}">
                <a16:creationId xmlns:a16="http://schemas.microsoft.com/office/drawing/2014/main" id="{9062593E-9CC5-C1BF-0BD6-ECC2DB8A3E5E}"/>
              </a:ext>
            </a:extLst>
          </p:cNvPr>
          <p:cNvSpPr>
            <a:spLocks noGrp="1"/>
          </p:cNvSpPr>
          <p:nvPr>
            <p:ph idx="1"/>
          </p:nvPr>
        </p:nvSpPr>
        <p:spPr/>
        <p:txBody>
          <a:bodyPr/>
          <a:lstStyle/>
          <a:p>
            <a:pPr>
              <a:lnSpc>
                <a:spcPct val="150000"/>
              </a:lnSpc>
            </a:pPr>
            <a:r>
              <a:rPr lang="en-US" dirty="0"/>
              <a:t>Each student is required to set up a web hosting service for use throughout the course. </a:t>
            </a:r>
          </a:p>
          <a:p>
            <a:pPr>
              <a:lnSpc>
                <a:spcPct val="150000"/>
              </a:lnSpc>
            </a:pPr>
            <a:r>
              <a:rPr lang="en-US" dirty="0"/>
              <a:t>You will create websites or web pages to host your exercises and projects. </a:t>
            </a:r>
          </a:p>
          <a:p>
            <a:pPr>
              <a:lnSpc>
                <a:spcPct val="150000"/>
              </a:lnSpc>
            </a:pPr>
            <a:r>
              <a:rPr lang="en-US" dirty="0"/>
              <a:t>Your site must be publicly accessible and have a public URL.</a:t>
            </a:r>
          </a:p>
        </p:txBody>
      </p:sp>
    </p:spTree>
    <p:extLst>
      <p:ext uri="{BB962C8B-B14F-4D97-AF65-F5344CB8AC3E}">
        <p14:creationId xmlns:p14="http://schemas.microsoft.com/office/powerpoint/2010/main" val="2695699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AF7B4-4945-124B-48E3-F6424A4811B2}"/>
              </a:ext>
            </a:extLst>
          </p:cNvPr>
          <p:cNvSpPr>
            <a:spLocks noGrp="1"/>
          </p:cNvSpPr>
          <p:nvPr>
            <p:ph type="title"/>
          </p:nvPr>
        </p:nvSpPr>
        <p:spPr/>
        <p:txBody>
          <a:bodyPr>
            <a:normAutofit/>
          </a:bodyPr>
          <a:lstStyle/>
          <a:p>
            <a:r>
              <a:rPr lang="en-US" b="1" dirty="0"/>
              <a:t>Why Set Up Your Own Hosting?</a:t>
            </a:r>
            <a:endParaRPr lang="en-US" dirty="0"/>
          </a:p>
        </p:txBody>
      </p:sp>
      <p:sp>
        <p:nvSpPr>
          <p:cNvPr id="3" name="Content Placeholder 2">
            <a:extLst>
              <a:ext uri="{FF2B5EF4-FFF2-40B4-BE49-F238E27FC236}">
                <a16:creationId xmlns:a16="http://schemas.microsoft.com/office/drawing/2014/main" id="{AF8EFB81-76F5-E710-22C7-692DBB6DF873}"/>
              </a:ext>
            </a:extLst>
          </p:cNvPr>
          <p:cNvSpPr>
            <a:spLocks noGrp="1"/>
          </p:cNvSpPr>
          <p:nvPr>
            <p:ph idx="1"/>
          </p:nvPr>
        </p:nvSpPr>
        <p:spPr/>
        <p:txBody>
          <a:bodyPr>
            <a:normAutofit lnSpcReduction="10000"/>
          </a:bodyPr>
          <a:lstStyle/>
          <a:p>
            <a:r>
              <a:rPr lang="en-US" dirty="0"/>
              <a:t>Setting up your own hosting gives you hands-on experience with real-world web deployment and site management. It allows you to:</a:t>
            </a:r>
          </a:p>
          <a:p>
            <a:pPr lvl="1"/>
            <a:r>
              <a:rPr lang="en-US" dirty="0"/>
              <a:t>Learn and practice web hosting and deployment skills. </a:t>
            </a:r>
          </a:p>
          <a:p>
            <a:pPr lvl="1"/>
            <a:r>
              <a:rPr lang="en-US" dirty="0"/>
              <a:t>Manage your own website files and public URL. </a:t>
            </a:r>
          </a:p>
          <a:p>
            <a:pPr lvl="1"/>
            <a:r>
              <a:rPr lang="en-US" dirty="0"/>
              <a:t>Have greater control and fewer restrictions over your website. </a:t>
            </a:r>
          </a:p>
          <a:p>
            <a:pPr lvl="1"/>
            <a:r>
              <a:rPr lang="en-US" dirty="0"/>
              <a:t>Use the hosting environment throughout this course for your exercises and projects. </a:t>
            </a:r>
          </a:p>
          <a:p>
            <a:pPr lvl="1"/>
            <a:r>
              <a:rPr lang="en-US" dirty="0"/>
              <a:t>Continue using your hosting beyond the course for future development and portfolio work. </a:t>
            </a:r>
          </a:p>
          <a:p>
            <a:pPr lvl="1"/>
            <a:r>
              <a:rPr lang="en-US" dirty="0"/>
              <a:t>Begin building your own web presence and, if desired, your own domain. </a:t>
            </a:r>
          </a:p>
          <a:p>
            <a:pPr marL="0" indent="0">
              <a:lnSpc>
                <a:spcPct val="150000"/>
              </a:lnSpc>
              <a:buNone/>
            </a:pPr>
            <a:endParaRPr lang="en-US" dirty="0"/>
          </a:p>
        </p:txBody>
      </p:sp>
    </p:spTree>
    <p:extLst>
      <p:ext uri="{BB962C8B-B14F-4D97-AF65-F5344CB8AC3E}">
        <p14:creationId xmlns:p14="http://schemas.microsoft.com/office/powerpoint/2010/main" val="2647812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E714F-F845-EB67-1905-A962801F2FC8}"/>
              </a:ext>
            </a:extLst>
          </p:cNvPr>
          <p:cNvSpPr>
            <a:spLocks noGrp="1"/>
          </p:cNvSpPr>
          <p:nvPr>
            <p:ph type="title"/>
          </p:nvPr>
        </p:nvSpPr>
        <p:spPr/>
        <p:txBody>
          <a:bodyPr/>
          <a:lstStyle/>
          <a:p>
            <a:r>
              <a:rPr lang="en-US" b="1" dirty="0"/>
              <a:t>Basic Hosting Service Requirements</a:t>
            </a:r>
            <a:endParaRPr lang="en-US" dirty="0"/>
          </a:p>
        </p:txBody>
      </p:sp>
      <p:sp>
        <p:nvSpPr>
          <p:cNvPr id="3" name="Content Placeholder 2">
            <a:extLst>
              <a:ext uri="{FF2B5EF4-FFF2-40B4-BE49-F238E27FC236}">
                <a16:creationId xmlns:a16="http://schemas.microsoft.com/office/drawing/2014/main" id="{9F1D0678-E9BB-1C08-341D-8265FA5DDBB0}"/>
              </a:ext>
            </a:extLst>
          </p:cNvPr>
          <p:cNvSpPr>
            <a:spLocks noGrp="1"/>
          </p:cNvSpPr>
          <p:nvPr>
            <p:ph idx="1"/>
          </p:nvPr>
        </p:nvSpPr>
        <p:spPr/>
        <p:txBody>
          <a:bodyPr/>
          <a:lstStyle/>
          <a:p>
            <a:pPr marL="0" indent="0">
              <a:lnSpc>
                <a:spcPct val="150000"/>
              </a:lnSpc>
              <a:buNone/>
            </a:pPr>
            <a:r>
              <a:rPr lang="en-US" dirty="0"/>
              <a:t>Your chosen hosting service must meet the following requirements:</a:t>
            </a:r>
          </a:p>
          <a:p>
            <a:pPr lvl="1">
              <a:lnSpc>
                <a:spcPct val="150000"/>
              </a:lnSpc>
            </a:pPr>
            <a:r>
              <a:rPr lang="en-US" dirty="0"/>
              <a:t>Support file transfer so you can directly upload source code files such as HTML, CSS, and JavaScript</a:t>
            </a:r>
          </a:p>
          <a:p>
            <a:pPr lvl="1">
              <a:lnSpc>
                <a:spcPct val="150000"/>
              </a:lnSpc>
            </a:pPr>
            <a:r>
              <a:rPr lang="en-US" dirty="0"/>
              <a:t>Support at least one server-side framework (such as PHP or Node.js)</a:t>
            </a:r>
          </a:p>
          <a:p>
            <a:pPr lvl="1">
              <a:lnSpc>
                <a:spcPct val="150000"/>
              </a:lnSpc>
            </a:pPr>
            <a:r>
              <a:rPr lang="en-US" dirty="0"/>
              <a:t>A database is not required for this course</a:t>
            </a:r>
          </a:p>
        </p:txBody>
      </p:sp>
    </p:spTree>
    <p:extLst>
      <p:ext uri="{BB962C8B-B14F-4D97-AF65-F5344CB8AC3E}">
        <p14:creationId xmlns:p14="http://schemas.microsoft.com/office/powerpoint/2010/main" val="2927096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DDB3-A52C-48F4-856F-543F484E327E}"/>
              </a:ext>
            </a:extLst>
          </p:cNvPr>
          <p:cNvSpPr>
            <a:spLocks noGrp="1"/>
          </p:cNvSpPr>
          <p:nvPr>
            <p:ph type="title"/>
          </p:nvPr>
        </p:nvSpPr>
        <p:spPr/>
        <p:txBody>
          <a:bodyPr/>
          <a:lstStyle/>
          <a:p>
            <a:r>
              <a:rPr lang="en-US" b="1" dirty="0"/>
              <a:t>How to Get Web Hosting</a:t>
            </a:r>
            <a:endParaRPr lang="en-US" dirty="0"/>
          </a:p>
        </p:txBody>
      </p:sp>
      <p:sp>
        <p:nvSpPr>
          <p:cNvPr id="3" name="Content Placeholder 2">
            <a:extLst>
              <a:ext uri="{FF2B5EF4-FFF2-40B4-BE49-F238E27FC236}">
                <a16:creationId xmlns:a16="http://schemas.microsoft.com/office/drawing/2014/main" id="{B84E9185-305B-DD3F-1F7C-4AA5C1C79883}"/>
              </a:ext>
            </a:extLst>
          </p:cNvPr>
          <p:cNvSpPr>
            <a:spLocks noGrp="1"/>
          </p:cNvSpPr>
          <p:nvPr>
            <p:ph idx="1"/>
          </p:nvPr>
        </p:nvSpPr>
        <p:spPr/>
        <p:txBody>
          <a:bodyPr>
            <a:normAutofit fontScale="70000" lnSpcReduction="20000"/>
          </a:bodyPr>
          <a:lstStyle/>
          <a:p>
            <a:pPr marL="0" indent="0">
              <a:lnSpc>
                <a:spcPct val="150000"/>
              </a:lnSpc>
              <a:buNone/>
            </a:pPr>
            <a:r>
              <a:rPr lang="en-US" dirty="0"/>
              <a:t>Below are several hosting options you may choose from. You may select the option that best fits your needs and comfort level.</a:t>
            </a:r>
          </a:p>
          <a:p>
            <a:pPr lvl="1">
              <a:lnSpc>
                <a:spcPct val="150000"/>
              </a:lnSpc>
            </a:pPr>
            <a:r>
              <a:rPr lang="en-US" dirty="0">
                <a:hlinkClick r:id="rId2"/>
              </a:rPr>
              <a:t>Microsoft Azure for Students</a:t>
            </a:r>
            <a:r>
              <a:rPr lang="en-US" dirty="0"/>
              <a:t> provides free services to students and is recommended.</a:t>
            </a:r>
          </a:p>
          <a:p>
            <a:pPr lvl="1">
              <a:lnSpc>
                <a:spcPct val="150000"/>
              </a:lnSpc>
            </a:pPr>
            <a:r>
              <a:rPr lang="en-US" dirty="0">
                <a:hlinkClick r:id="rId3"/>
              </a:rPr>
              <a:t>GitHub Pages</a:t>
            </a:r>
            <a:r>
              <a:rPr lang="en-US" dirty="0"/>
              <a:t> also provides free hosting for static HTML, CSS, and JavaScript projects. It does not support server-side technologies such as PHP or Node.js directly.</a:t>
            </a:r>
          </a:p>
          <a:p>
            <a:pPr lvl="1">
              <a:lnSpc>
                <a:spcPct val="150000"/>
              </a:lnSpc>
            </a:pPr>
            <a:r>
              <a:rPr lang="en-US" dirty="0">
                <a:hlinkClick r:id="rId4"/>
              </a:rPr>
              <a:t>Commercial Hosting Providers: </a:t>
            </a:r>
            <a:r>
              <a:rPr lang="en-US" dirty="0"/>
              <a:t>You may purchase individual hosting with your own domain from a commercial provider.</a:t>
            </a:r>
          </a:p>
          <a:p>
            <a:pPr lvl="1">
              <a:lnSpc>
                <a:spcPct val="150000"/>
              </a:lnSpc>
            </a:pPr>
            <a:r>
              <a:rPr lang="en-US" dirty="0"/>
              <a:t>Shared Hosting with Classmates: you may share one hosting plan and one domain with several classmates and split the cost. Each participant must still have their own site, using a subdomain or subdirectory.</a:t>
            </a:r>
          </a:p>
          <a:p>
            <a:pPr lvl="1">
              <a:lnSpc>
                <a:spcPct val="150000"/>
              </a:lnSpc>
            </a:pPr>
            <a:r>
              <a:rPr lang="en-US" dirty="0">
                <a:hlinkClick r:id="rId5"/>
              </a:rPr>
              <a:t>Explore Other Free Hosting Providers</a:t>
            </a:r>
            <a:endParaRPr lang="en-US" dirty="0"/>
          </a:p>
        </p:txBody>
      </p:sp>
    </p:spTree>
    <p:extLst>
      <p:ext uri="{BB962C8B-B14F-4D97-AF65-F5344CB8AC3E}">
        <p14:creationId xmlns:p14="http://schemas.microsoft.com/office/powerpoint/2010/main" val="3584716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641DE-9999-5B57-A74C-FF3163C47705}"/>
              </a:ext>
            </a:extLst>
          </p:cNvPr>
          <p:cNvSpPr>
            <a:spLocks noGrp="1"/>
          </p:cNvSpPr>
          <p:nvPr>
            <p:ph type="title"/>
          </p:nvPr>
        </p:nvSpPr>
        <p:spPr/>
        <p:txBody>
          <a:bodyPr/>
          <a:lstStyle/>
          <a:p>
            <a:r>
              <a:rPr lang="en-US" b="1" dirty="0"/>
              <a:t>Important Disclaimer</a:t>
            </a:r>
            <a:endParaRPr lang="en-US" dirty="0"/>
          </a:p>
        </p:txBody>
      </p:sp>
      <p:sp>
        <p:nvSpPr>
          <p:cNvPr id="3" name="Content Placeholder 2">
            <a:extLst>
              <a:ext uri="{FF2B5EF4-FFF2-40B4-BE49-F238E27FC236}">
                <a16:creationId xmlns:a16="http://schemas.microsoft.com/office/drawing/2014/main" id="{73BAEB5F-38D2-59AC-D52C-A5F68A15C99E}"/>
              </a:ext>
            </a:extLst>
          </p:cNvPr>
          <p:cNvSpPr>
            <a:spLocks noGrp="1"/>
          </p:cNvSpPr>
          <p:nvPr>
            <p:ph idx="1"/>
          </p:nvPr>
        </p:nvSpPr>
        <p:spPr/>
        <p:txBody>
          <a:bodyPr/>
          <a:lstStyle/>
          <a:p>
            <a:pPr>
              <a:lnSpc>
                <a:spcPct val="150000"/>
              </a:lnSpc>
            </a:pPr>
            <a:r>
              <a:rPr lang="en-US" dirty="0"/>
              <a:t>The instructor has no experience with commercial or other free hosting providers and cannot guarantee their reliability, performance, or long-term availability. </a:t>
            </a:r>
          </a:p>
          <a:p>
            <a:pPr>
              <a:lnSpc>
                <a:spcPct val="150000"/>
              </a:lnSpc>
            </a:pPr>
            <a:r>
              <a:rPr lang="en-US" dirty="0"/>
              <a:t>You are responsible for evaluating and choosing a service that meets your needs.</a:t>
            </a:r>
          </a:p>
        </p:txBody>
      </p:sp>
    </p:spTree>
    <p:extLst>
      <p:ext uri="{BB962C8B-B14F-4D97-AF65-F5344CB8AC3E}">
        <p14:creationId xmlns:p14="http://schemas.microsoft.com/office/powerpoint/2010/main" val="331984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9E592-B6A7-1851-F44A-91653C5E4A15}"/>
              </a:ext>
            </a:extLst>
          </p:cNvPr>
          <p:cNvSpPr>
            <a:spLocks noGrp="1"/>
          </p:cNvSpPr>
          <p:nvPr>
            <p:ph type="title"/>
          </p:nvPr>
        </p:nvSpPr>
        <p:spPr/>
        <p:txBody>
          <a:bodyPr/>
          <a:lstStyle/>
          <a:p>
            <a:r>
              <a:rPr lang="en-US" b="1" dirty="0"/>
              <a:t>Lab Actions</a:t>
            </a:r>
            <a:endParaRPr lang="en-US" dirty="0"/>
          </a:p>
        </p:txBody>
      </p:sp>
      <p:sp>
        <p:nvSpPr>
          <p:cNvPr id="3" name="Content Placeholder 2">
            <a:extLst>
              <a:ext uri="{FF2B5EF4-FFF2-40B4-BE49-F238E27FC236}">
                <a16:creationId xmlns:a16="http://schemas.microsoft.com/office/drawing/2014/main" id="{2E4E57E2-781A-196C-37EC-63341D2F1F5D}"/>
              </a:ext>
            </a:extLst>
          </p:cNvPr>
          <p:cNvSpPr>
            <a:spLocks noGrp="1"/>
          </p:cNvSpPr>
          <p:nvPr>
            <p:ph idx="1"/>
          </p:nvPr>
        </p:nvSpPr>
        <p:spPr/>
        <p:txBody>
          <a:bodyPr/>
          <a:lstStyle/>
          <a:p>
            <a:pPr marL="0" indent="0">
              <a:buNone/>
            </a:pPr>
            <a:r>
              <a:rPr lang="en-US" dirty="0"/>
              <a:t>Complete the following steps as part of this lab:</a:t>
            </a:r>
          </a:p>
          <a:p>
            <a:pPr marL="0" indent="0">
              <a:buNone/>
            </a:pPr>
            <a:endParaRPr lang="en-US" dirty="0"/>
          </a:p>
        </p:txBody>
      </p:sp>
    </p:spTree>
    <p:extLst>
      <p:ext uri="{BB962C8B-B14F-4D97-AF65-F5344CB8AC3E}">
        <p14:creationId xmlns:p14="http://schemas.microsoft.com/office/powerpoint/2010/main" val="1324759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97A54-188C-8E9F-8DDE-D704FAFFACA2}"/>
              </a:ext>
            </a:extLst>
          </p:cNvPr>
          <p:cNvSpPr>
            <a:spLocks noGrp="1"/>
          </p:cNvSpPr>
          <p:nvPr>
            <p:ph type="title"/>
          </p:nvPr>
        </p:nvSpPr>
        <p:spPr/>
        <p:txBody>
          <a:bodyPr/>
          <a:lstStyle/>
          <a:p>
            <a:r>
              <a:rPr lang="en-US" b="1" dirty="0"/>
              <a:t>Step- 1</a:t>
            </a:r>
          </a:p>
        </p:txBody>
      </p:sp>
      <p:sp>
        <p:nvSpPr>
          <p:cNvPr id="3" name="Content Placeholder 2">
            <a:extLst>
              <a:ext uri="{FF2B5EF4-FFF2-40B4-BE49-F238E27FC236}">
                <a16:creationId xmlns:a16="http://schemas.microsoft.com/office/drawing/2014/main" id="{6F96DF84-58FA-B509-8F9F-2582CB05CFD5}"/>
              </a:ext>
            </a:extLst>
          </p:cNvPr>
          <p:cNvSpPr>
            <a:spLocks noGrp="1"/>
          </p:cNvSpPr>
          <p:nvPr>
            <p:ph idx="1"/>
          </p:nvPr>
        </p:nvSpPr>
        <p:spPr/>
        <p:txBody>
          <a:bodyPr>
            <a:normAutofit fontScale="62500" lnSpcReduction="20000"/>
          </a:bodyPr>
          <a:lstStyle/>
          <a:p>
            <a:pPr>
              <a:lnSpc>
                <a:spcPct val="160000"/>
              </a:lnSpc>
            </a:pPr>
            <a:r>
              <a:rPr lang="en-US" dirty="0"/>
              <a:t>Create a simple wireframe or mock-up of your website to plan the structure and content before setting up hosting.</a:t>
            </a:r>
            <a:br>
              <a:rPr lang="en-US" dirty="0"/>
            </a:br>
            <a:r>
              <a:rPr lang="en-US" dirty="0"/>
              <a:t>You may use any free wireframing or design tool such as:</a:t>
            </a:r>
          </a:p>
          <a:p>
            <a:pPr lvl="1">
              <a:lnSpc>
                <a:spcPct val="160000"/>
              </a:lnSpc>
            </a:pPr>
            <a:r>
              <a:rPr lang="en-US" dirty="0"/>
              <a:t>Figma</a:t>
            </a:r>
          </a:p>
          <a:p>
            <a:pPr lvl="1">
              <a:lnSpc>
                <a:spcPct val="160000"/>
              </a:lnSpc>
            </a:pPr>
            <a:r>
              <a:rPr lang="en-US" dirty="0"/>
              <a:t>Canva</a:t>
            </a:r>
          </a:p>
          <a:p>
            <a:pPr lvl="1">
              <a:lnSpc>
                <a:spcPct val="160000"/>
              </a:lnSpc>
            </a:pPr>
            <a:r>
              <a:rPr lang="en-US" dirty="0"/>
              <a:t>Balsamiq</a:t>
            </a:r>
          </a:p>
          <a:p>
            <a:pPr lvl="1">
              <a:lnSpc>
                <a:spcPct val="160000"/>
              </a:lnSpc>
            </a:pPr>
            <a:r>
              <a:rPr lang="en-US" dirty="0"/>
              <a:t>Any similar tool you are comfortable with</a:t>
            </a:r>
          </a:p>
          <a:p>
            <a:pPr>
              <a:lnSpc>
                <a:spcPct val="160000"/>
              </a:lnSpc>
            </a:pPr>
            <a:r>
              <a:rPr lang="en-US" dirty="0"/>
              <a:t>The wireframe should show the basic layout of your site, including the homepage and links to exercises and project pages. This step is for planning purposes and does not need to be published but has to be submitted with URL of the website.</a:t>
            </a:r>
          </a:p>
        </p:txBody>
      </p:sp>
    </p:spTree>
    <p:extLst>
      <p:ext uri="{BB962C8B-B14F-4D97-AF65-F5344CB8AC3E}">
        <p14:creationId xmlns:p14="http://schemas.microsoft.com/office/powerpoint/2010/main" val="610536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BE787-93F1-102A-B1AC-E4A4614FC77D}"/>
              </a:ext>
            </a:extLst>
          </p:cNvPr>
          <p:cNvSpPr>
            <a:spLocks noGrp="1"/>
          </p:cNvSpPr>
          <p:nvPr>
            <p:ph type="title"/>
          </p:nvPr>
        </p:nvSpPr>
        <p:spPr/>
        <p:txBody>
          <a:bodyPr/>
          <a:lstStyle/>
          <a:p>
            <a:r>
              <a:rPr lang="en-US" b="1" dirty="0"/>
              <a:t>Step- 2</a:t>
            </a:r>
            <a:endParaRPr lang="en-US" dirty="0"/>
          </a:p>
        </p:txBody>
      </p:sp>
      <p:sp>
        <p:nvSpPr>
          <p:cNvPr id="3" name="Content Placeholder 2">
            <a:extLst>
              <a:ext uri="{FF2B5EF4-FFF2-40B4-BE49-F238E27FC236}">
                <a16:creationId xmlns:a16="http://schemas.microsoft.com/office/drawing/2014/main" id="{BBFEEB3F-BAE3-1BBC-C8E4-9CD951CE5386}"/>
              </a:ext>
            </a:extLst>
          </p:cNvPr>
          <p:cNvSpPr>
            <a:spLocks noGrp="1"/>
          </p:cNvSpPr>
          <p:nvPr>
            <p:ph idx="1"/>
          </p:nvPr>
        </p:nvSpPr>
        <p:spPr/>
        <p:txBody>
          <a:bodyPr/>
          <a:lstStyle/>
          <a:p>
            <a:pPr marL="0" indent="0">
              <a:lnSpc>
                <a:spcPct val="150000"/>
              </a:lnSpc>
              <a:buNone/>
            </a:pPr>
            <a:r>
              <a:rPr lang="en-US" dirty="0"/>
              <a:t>Set up a public website with a working URL using your chosen hosting provider.</a:t>
            </a:r>
          </a:p>
        </p:txBody>
      </p:sp>
    </p:spTree>
    <p:extLst>
      <p:ext uri="{BB962C8B-B14F-4D97-AF65-F5344CB8AC3E}">
        <p14:creationId xmlns:p14="http://schemas.microsoft.com/office/powerpoint/2010/main" val="1743769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11D0-9628-7EE3-B25D-D94BA9E75AA5}"/>
              </a:ext>
            </a:extLst>
          </p:cNvPr>
          <p:cNvSpPr>
            <a:spLocks noGrp="1"/>
          </p:cNvSpPr>
          <p:nvPr>
            <p:ph type="title"/>
          </p:nvPr>
        </p:nvSpPr>
        <p:spPr/>
        <p:txBody>
          <a:bodyPr/>
          <a:lstStyle/>
          <a:p>
            <a:r>
              <a:rPr lang="en-US" b="1" dirty="0"/>
              <a:t>Step- 3</a:t>
            </a:r>
            <a:endParaRPr lang="en-US" dirty="0"/>
          </a:p>
        </p:txBody>
      </p:sp>
      <p:sp>
        <p:nvSpPr>
          <p:cNvPr id="3" name="Content Placeholder 2">
            <a:extLst>
              <a:ext uri="{FF2B5EF4-FFF2-40B4-BE49-F238E27FC236}">
                <a16:creationId xmlns:a16="http://schemas.microsoft.com/office/drawing/2014/main" id="{44F58FAB-2538-C175-F42E-F38003D0D768}"/>
              </a:ext>
            </a:extLst>
          </p:cNvPr>
          <p:cNvSpPr>
            <a:spLocks noGrp="1"/>
          </p:cNvSpPr>
          <p:nvPr>
            <p:ph idx="1"/>
          </p:nvPr>
        </p:nvSpPr>
        <p:spPr>
          <a:xfrm>
            <a:off x="838200" y="1027906"/>
            <a:ext cx="10515600" cy="4351339"/>
          </a:xfrm>
        </p:spPr>
        <p:txBody>
          <a:bodyPr>
            <a:normAutofit fontScale="92500" lnSpcReduction="10000"/>
          </a:bodyPr>
          <a:lstStyle/>
          <a:p>
            <a:pPr marL="0" indent="0">
              <a:lnSpc>
                <a:spcPct val="150000"/>
              </a:lnSpc>
              <a:buNone/>
            </a:pPr>
            <a:r>
              <a:rPr lang="en-US" dirty="0"/>
              <a:t>Create a homepage that includes:</a:t>
            </a:r>
          </a:p>
          <a:p>
            <a:pPr lvl="1">
              <a:lnSpc>
                <a:spcPct val="150000"/>
              </a:lnSpc>
            </a:pPr>
            <a:r>
              <a:rPr lang="en-US" dirty="0"/>
              <a:t>Your name and affiliation</a:t>
            </a:r>
          </a:p>
          <a:p>
            <a:pPr lvl="1">
              <a:lnSpc>
                <a:spcPct val="150000"/>
              </a:lnSpc>
            </a:pPr>
            <a:r>
              <a:rPr lang="en-US" dirty="0"/>
              <a:t>A brief overview of the site and its purpose</a:t>
            </a:r>
          </a:p>
          <a:p>
            <a:pPr lvl="1">
              <a:lnSpc>
                <a:spcPct val="150000"/>
              </a:lnSpc>
            </a:pPr>
            <a:r>
              <a:rPr lang="en-US" dirty="0"/>
              <a:t>Course information (IT 4403 – Advanced Web and Mobile Applications)</a:t>
            </a:r>
          </a:p>
          <a:p>
            <a:pPr lvl="1">
              <a:lnSpc>
                <a:spcPct val="150000"/>
              </a:lnSpc>
            </a:pPr>
            <a:r>
              <a:rPr lang="en-US" dirty="0"/>
              <a:t>A disclaimer stating that this is a student website created for course projects in IT 4403</a:t>
            </a:r>
          </a:p>
          <a:p>
            <a:pPr lvl="1">
              <a:lnSpc>
                <a:spcPct val="150000"/>
              </a:lnSpc>
            </a:pPr>
            <a:r>
              <a:rPr lang="en-US" dirty="0"/>
              <a:t>A link to the </a:t>
            </a:r>
            <a:r>
              <a:rPr lang="en-US" dirty="0">
                <a:hlinkClick r:id="rId2"/>
              </a:rPr>
              <a:t>CCSE Department of IT Website</a:t>
            </a:r>
            <a:endParaRPr lang="en-US" dirty="0"/>
          </a:p>
          <a:p>
            <a:pPr lvl="1">
              <a:lnSpc>
                <a:spcPct val="150000"/>
              </a:lnSpc>
            </a:pPr>
            <a:r>
              <a:rPr lang="en-US" dirty="0"/>
              <a:t>Links to pages where you will post your exercises, labs, and projects</a:t>
            </a:r>
          </a:p>
        </p:txBody>
      </p:sp>
    </p:spTree>
    <p:extLst>
      <p:ext uri="{BB962C8B-B14F-4D97-AF65-F5344CB8AC3E}">
        <p14:creationId xmlns:p14="http://schemas.microsoft.com/office/powerpoint/2010/main" val="2327351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DFA4-0EDA-66BF-19D6-F92D3747B763}"/>
              </a:ext>
            </a:extLst>
          </p:cNvPr>
          <p:cNvSpPr>
            <a:spLocks noGrp="1"/>
          </p:cNvSpPr>
          <p:nvPr>
            <p:ph type="title"/>
          </p:nvPr>
        </p:nvSpPr>
        <p:spPr/>
        <p:txBody>
          <a:bodyPr/>
          <a:lstStyle/>
          <a:p>
            <a:r>
              <a:rPr lang="en-US" b="1" dirty="0"/>
              <a:t>Step- 4</a:t>
            </a:r>
            <a:endParaRPr lang="en-US" dirty="0"/>
          </a:p>
        </p:txBody>
      </p:sp>
      <p:sp>
        <p:nvSpPr>
          <p:cNvPr id="3" name="Content Placeholder 2">
            <a:extLst>
              <a:ext uri="{FF2B5EF4-FFF2-40B4-BE49-F238E27FC236}">
                <a16:creationId xmlns:a16="http://schemas.microsoft.com/office/drawing/2014/main" id="{0B910AC1-5A62-6B26-9906-D97EE7DBA494}"/>
              </a:ext>
            </a:extLst>
          </p:cNvPr>
          <p:cNvSpPr>
            <a:spLocks noGrp="1"/>
          </p:cNvSpPr>
          <p:nvPr>
            <p:ph idx="1"/>
          </p:nvPr>
        </p:nvSpPr>
        <p:spPr/>
        <p:txBody>
          <a:bodyPr/>
          <a:lstStyle/>
          <a:p>
            <a:pPr marL="0" indent="0">
              <a:buNone/>
            </a:pPr>
            <a:r>
              <a:rPr lang="en-US" dirty="0"/>
              <a:t>Accessibility note:</a:t>
            </a:r>
          </a:p>
          <a:p>
            <a:r>
              <a:rPr lang="en-US" dirty="0"/>
              <a:t>When choosing colors for your website, ensure sufficient contrast between text and background so that content is easy to read. </a:t>
            </a:r>
          </a:p>
          <a:p>
            <a:r>
              <a:rPr lang="en-US" dirty="0"/>
              <a:t>Follow basic color contrast guidelines where possible. </a:t>
            </a:r>
          </a:p>
        </p:txBody>
      </p:sp>
    </p:spTree>
    <p:extLst>
      <p:ext uri="{BB962C8B-B14F-4D97-AF65-F5344CB8AC3E}">
        <p14:creationId xmlns:p14="http://schemas.microsoft.com/office/powerpoint/2010/main" val="6531318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E32B7-A5A6-9DE5-64F9-B70B76C0D5EC}"/>
              </a:ext>
            </a:extLst>
          </p:cNvPr>
          <p:cNvSpPr>
            <a:spLocks noGrp="1"/>
          </p:cNvSpPr>
          <p:nvPr>
            <p:ph type="title"/>
          </p:nvPr>
        </p:nvSpPr>
        <p:spPr/>
        <p:txBody>
          <a:bodyPr/>
          <a:lstStyle/>
          <a:p>
            <a:r>
              <a:rPr lang="en-US" b="1" dirty="0"/>
              <a:t>Step- 5</a:t>
            </a:r>
            <a:endParaRPr lang="en-US" dirty="0"/>
          </a:p>
        </p:txBody>
      </p:sp>
      <p:sp>
        <p:nvSpPr>
          <p:cNvPr id="3" name="Content Placeholder 2">
            <a:extLst>
              <a:ext uri="{FF2B5EF4-FFF2-40B4-BE49-F238E27FC236}">
                <a16:creationId xmlns:a16="http://schemas.microsoft.com/office/drawing/2014/main" id="{3A06A1BA-4636-3D5F-41F0-91C7AF859055}"/>
              </a:ext>
            </a:extLst>
          </p:cNvPr>
          <p:cNvSpPr>
            <a:spLocks noGrp="1"/>
          </p:cNvSpPr>
          <p:nvPr>
            <p:ph idx="1"/>
          </p:nvPr>
        </p:nvSpPr>
        <p:spPr/>
        <p:txBody>
          <a:bodyPr>
            <a:normAutofit/>
          </a:bodyPr>
          <a:lstStyle/>
          <a:p>
            <a:pPr marL="0" indent="0">
              <a:lnSpc>
                <a:spcPct val="150000"/>
              </a:lnSpc>
              <a:buNone/>
            </a:pPr>
            <a:r>
              <a:rPr lang="en-US" dirty="0"/>
              <a:t>Submit your website URL along with a screenshot of your wireframe to the discussion.</a:t>
            </a:r>
            <a:br>
              <a:rPr lang="en-US" dirty="0"/>
            </a:br>
            <a:r>
              <a:rPr lang="en-US" dirty="0"/>
              <a:t>Include:</a:t>
            </a:r>
          </a:p>
          <a:p>
            <a:pPr marL="914389" lvl="1" indent="-457200">
              <a:lnSpc>
                <a:spcPct val="150000"/>
              </a:lnSpc>
              <a:buFont typeface="+mj-lt"/>
              <a:buAutoNum type="arabicPeriod"/>
            </a:pPr>
            <a:r>
              <a:rPr lang="en-US" dirty="0"/>
              <a:t>Your website URL</a:t>
            </a:r>
          </a:p>
          <a:p>
            <a:pPr marL="914389" lvl="1" indent="-457200">
              <a:lnSpc>
                <a:spcPct val="150000"/>
              </a:lnSpc>
              <a:buFont typeface="+mj-lt"/>
              <a:buAutoNum type="arabicPeriod"/>
            </a:pPr>
            <a:r>
              <a:rPr lang="en-US" dirty="0"/>
              <a:t>Wireframe screenshot</a:t>
            </a:r>
          </a:p>
          <a:p>
            <a:pPr marL="914389" lvl="1" indent="-457200">
              <a:lnSpc>
                <a:spcPct val="150000"/>
              </a:lnSpc>
              <a:buFont typeface="+mj-lt"/>
              <a:buAutoNum type="arabicPeriod"/>
            </a:pPr>
            <a:r>
              <a:rPr lang="en-US" dirty="0"/>
              <a:t>A brief description of the hosting provider and service you chose</a:t>
            </a:r>
          </a:p>
        </p:txBody>
      </p:sp>
    </p:spTree>
    <p:extLst>
      <p:ext uri="{BB962C8B-B14F-4D97-AF65-F5344CB8AC3E}">
        <p14:creationId xmlns:p14="http://schemas.microsoft.com/office/powerpoint/2010/main" val="2406932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6587C-CA8C-D34F-02B9-7FC1D63F2FD8}"/>
              </a:ext>
            </a:extLst>
          </p:cNvPr>
          <p:cNvSpPr>
            <a:spLocks noGrp="1"/>
          </p:cNvSpPr>
          <p:nvPr>
            <p:ph type="title"/>
          </p:nvPr>
        </p:nvSpPr>
        <p:spPr/>
        <p:txBody>
          <a:bodyPr/>
          <a:lstStyle/>
          <a:p>
            <a:r>
              <a:rPr lang="en-US" b="1"/>
              <a:t>Step- 6</a:t>
            </a:r>
            <a:endParaRPr lang="en-US" dirty="0"/>
          </a:p>
        </p:txBody>
      </p:sp>
      <p:sp>
        <p:nvSpPr>
          <p:cNvPr id="3" name="Content Placeholder 2">
            <a:extLst>
              <a:ext uri="{FF2B5EF4-FFF2-40B4-BE49-F238E27FC236}">
                <a16:creationId xmlns:a16="http://schemas.microsoft.com/office/drawing/2014/main" id="{DBD74051-DAE0-5358-3324-59ED576476B0}"/>
              </a:ext>
            </a:extLst>
          </p:cNvPr>
          <p:cNvSpPr>
            <a:spLocks noGrp="1"/>
          </p:cNvSpPr>
          <p:nvPr>
            <p:ph idx="1"/>
          </p:nvPr>
        </p:nvSpPr>
        <p:spPr/>
        <p:txBody>
          <a:bodyPr/>
          <a:lstStyle/>
          <a:p>
            <a:pPr>
              <a:lnSpc>
                <a:spcPct val="150000"/>
              </a:lnSpc>
            </a:pPr>
            <a:r>
              <a:rPr lang="en-US" dirty="0"/>
              <a:t>If you have questions or need advice at any point, please feel free to reach out for help.</a:t>
            </a:r>
          </a:p>
          <a:p>
            <a:pPr>
              <a:lnSpc>
                <a:spcPct val="150000"/>
              </a:lnSpc>
            </a:pPr>
            <a:r>
              <a:rPr lang="en-US" dirty="0"/>
              <a:t>You may also use the discussion board to ask questions or see if others have similar issues.</a:t>
            </a:r>
          </a:p>
        </p:txBody>
      </p:sp>
    </p:spTree>
    <p:extLst>
      <p:ext uri="{BB962C8B-B14F-4D97-AF65-F5344CB8AC3E}">
        <p14:creationId xmlns:p14="http://schemas.microsoft.com/office/powerpoint/2010/main" val="497268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CAABA-F0E1-C5DC-ACB1-E7249875CC2E}"/>
              </a:ext>
            </a:extLst>
          </p:cNvPr>
          <p:cNvSpPr>
            <a:spLocks noGrp="1"/>
          </p:cNvSpPr>
          <p:nvPr>
            <p:ph type="title"/>
          </p:nvPr>
        </p:nvSpPr>
        <p:spPr>
          <a:xfrm>
            <a:off x="4770722" y="2766218"/>
            <a:ext cx="2650556" cy="1325563"/>
          </a:xfrm>
        </p:spPr>
        <p:txBody>
          <a:bodyPr>
            <a:normAutofit/>
          </a:bodyPr>
          <a:lstStyle/>
          <a:p>
            <a:r>
              <a:rPr lang="en-US" b="1" dirty="0"/>
              <a:t>The End</a:t>
            </a:r>
          </a:p>
        </p:txBody>
      </p:sp>
    </p:spTree>
    <p:extLst>
      <p:ext uri="{BB962C8B-B14F-4D97-AF65-F5344CB8AC3E}">
        <p14:creationId xmlns:p14="http://schemas.microsoft.com/office/powerpoint/2010/main" val="613406446"/>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765</Words>
  <Application>Microsoft Office PowerPoint</Application>
  <PresentationFormat>Widescreen</PresentationFormat>
  <Paragraphs>64</Paragraphs>
  <Slides>15</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Arial</vt:lpstr>
      <vt:lpstr>1_Office Theme</vt:lpstr>
      <vt:lpstr>Lab 1:  Web Hosting Setup</vt:lpstr>
      <vt:lpstr>Lab 1: Web Hosting Setup</vt:lpstr>
      <vt:lpstr>Purpose of This Lab</vt:lpstr>
      <vt:lpstr>Why Set Up Your Own Hosting?</vt:lpstr>
      <vt:lpstr>Basic Hosting Service Requirements</vt:lpstr>
      <vt:lpstr>How to Get Web Hosting</vt:lpstr>
      <vt:lpstr>Important Disclaimer</vt:lpstr>
      <vt:lpstr>Lab Actions</vt:lpstr>
      <vt:lpstr>Step- 1</vt:lpstr>
      <vt:lpstr>Step- 2</vt:lpstr>
      <vt:lpstr>Step- 3</vt:lpstr>
      <vt:lpstr>Step- 4</vt:lpstr>
      <vt:lpstr>Step- 5</vt:lpstr>
      <vt:lpstr>Step- 6</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Lab-1</dc:title>
  <dc:creator>Geetika Vyas</dc:creator>
  <cp:lastModifiedBy>Tom Barrera</cp:lastModifiedBy>
  <cp:revision>12</cp:revision>
  <dcterms:created xsi:type="dcterms:W3CDTF">2026-01-19T18:16:52Z</dcterms:created>
  <dcterms:modified xsi:type="dcterms:W3CDTF">2026-09-11T19:11:50Z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[{"title":"Lab-1","pageNumber":0,"geomIndex":-1,"issueTypeId":"MissingTitleIssue:PPTX","dismiss":false,"pageNumbers":[1],"coordinatesList":[[10.0,10.0,2.0,2.0]]}]</vt:lpwstr>
  </property>
</Properties>
</file>